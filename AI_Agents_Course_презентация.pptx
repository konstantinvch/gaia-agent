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41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COURSE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конспект курса Hugging Face: от основ агентов до бенчмарка GAIA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68680" y="3794760"/>
            <a:ext cx="1371600" cy="54864"/>
          </a:xfrm>
          <a:prstGeom prst="rect">
            <a:avLst/>
          </a:prstGeom>
          <a:solidFill>
            <a:srgbClr val="FF9D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023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9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1–4  ·  Три бонусных модуля  ·  Certificate of Fundamentals of Agents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Конспект подготовлен для Konstantin Chaplygin  ·  Bankismart.com  ·  Август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курса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раздела и два сертификата</a:t>
            </a:r>
            <a:endParaRPr lang="en-US" sz="1500" dirty="0"/>
          </a:p>
        </p:txBody>
      </p:sp>
      <p:pic>
        <p:nvPicPr>
          <p:cNvPr id="4" name="Image 0" descr="/home/claude/diagram_full_road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463040"/>
            <a:ext cx="9601200" cy="48371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Что такое ИИ-агент</a:t>
            </a:r>
            <a:endParaRPr lang="en-US" sz="2800" dirty="0"/>
          </a:p>
        </p:txBody>
      </p:sp>
      <p:pic>
        <p:nvPicPr>
          <p:cNvPr id="3" name="Image 0" descr="/home/claude/diagram_agent_brain_bod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852160" cy="349300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858000" y="1371600"/>
            <a:ext cx="502920" cy="502920"/>
          </a:xfrm>
          <a:prstGeom prst="ellipse">
            <a:avLst/>
          </a:prstGeom>
          <a:solidFill>
            <a:srgbClr val="4C8BF5"/>
          </a:solidFill>
          <a:ln/>
        </p:spPr>
      </p:sp>
      <p:sp>
        <p:nvSpPr>
          <p:cNvPr id="5" name="Text 2"/>
          <p:cNvSpPr/>
          <p:nvPr/>
        </p:nvSpPr>
        <p:spPr>
          <a:xfrm>
            <a:off x="685800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40" dirty="0"/>
          </a:p>
        </p:txBody>
      </p:sp>
      <p:sp>
        <p:nvSpPr>
          <p:cNvPr id="6" name="Text 3"/>
          <p:cNvSpPr/>
          <p:nvPr/>
        </p:nvSpPr>
        <p:spPr>
          <a:xfrm>
            <a:off x="754380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Мозг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43800" y="16916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— рассуждает и планирует следующий шаг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0" y="2606040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40" dirty="0"/>
          </a:p>
        </p:txBody>
      </p:sp>
      <p:sp>
        <p:nvSpPr>
          <p:cNvPr id="10" name="Text 7"/>
          <p:cNvSpPr/>
          <p:nvPr/>
        </p:nvSpPr>
        <p:spPr>
          <a:xfrm>
            <a:off x="7543800" y="2560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Тело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543800" y="29260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 (Tools) — то, чем агент реально может подействовать на среду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858000" y="3840480"/>
            <a:ext cx="502920" cy="502920"/>
          </a:xfrm>
          <a:prstGeom prst="ellipse">
            <a:avLst/>
          </a:prstGeom>
          <a:solidFill>
            <a:srgbClr val="FF9D00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40" dirty="0"/>
          </a:p>
        </p:txBody>
      </p:sp>
      <p:sp>
        <p:nvSpPr>
          <p:cNvPr id="14" name="Text 11"/>
          <p:cNvSpPr/>
          <p:nvPr/>
        </p:nvSpPr>
        <p:spPr>
          <a:xfrm>
            <a:off x="7543800" y="3794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Среда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543800" y="41605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Получает действия агента и возвращает наблюдения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858000" y="52120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= AI-модель, которая рассуждает, планирует и взаимодействует со средой ради цели пользователя.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 · Рабочий цикл агента</a:t>
            </a:r>
            <a:endParaRPr lang="en-US" sz="2800" dirty="0"/>
          </a:p>
        </p:txBody>
      </p:sp>
      <p:pic>
        <p:nvPicPr>
          <p:cNvPr id="3" name="Image 0" descr="/home/claude/diagram_thought_action_observ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960120"/>
            <a:ext cx="4846320" cy="43251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3949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Мышление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что делать дальше (внутреннее рассуждение LLM)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агент вызывает инструмент с аргументами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9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 </a:t>
            </a:r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результат работы инструмента возвращается модели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Раздела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291840" cy="420624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2880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тест Unit 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 из 10 верных ответов)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0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вопрос пропущен из-за преждевременного клика Next — до подгрузки вариантов ответа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1417320"/>
            <a:ext cx="7315200" cy="4206240"/>
          </a:xfrm>
          <a:prstGeom prst="roundRect">
            <a:avLst>
              <a:gd name="adj" fmla="val 2609"/>
            </a:avLst>
          </a:prstGeom>
          <a:solidFill>
            <a:srgbClr val="FFF3E0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73736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Certificate of Achievement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0560" y="22860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Agents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0560" y="292608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A3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Имя: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A3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Chaplygin Konstantin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A3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Дата: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A3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20.08.2026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A3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что: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A3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 — Foundations of Agents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5A3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Статус: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5A3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 и скачан 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 · Три фреймворка для агентов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F4F5F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566160" cy="109728"/>
          </a:xfrm>
          <a:prstGeom prst="rect">
            <a:avLst/>
          </a:prstGeom>
          <a:solidFill>
            <a:srgbClr val="FF9D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9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CodeAgent пишет и исполняет код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ToolCallingAgent — JSON-вызовы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Лёгкий, интегрирован с HF Hub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371600"/>
            <a:ext cx="3566160" cy="109728"/>
          </a:xfrm>
          <a:prstGeom prst="rect">
            <a:avLst/>
          </a:prstGeom>
          <a:solidFill>
            <a:srgbClr val="4C8BF5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17720" y="21214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изначально — RAG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этапов RAG-конвейера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/ Tools / Agents / Workflows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и Function Calling агенты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F4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8160" y="1371600"/>
            <a:ext cx="3566160" cy="109728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412480" y="21214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26060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состояний: State/Node/Edge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Максимальный контроль потока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Условные переходы, циклы, human-in-the-loop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2 · RAG-конвейер (LlamaIndex)</a:t>
            </a:r>
            <a:endParaRPr lang="en-US" sz="2600" dirty="0"/>
          </a:p>
        </p:txBody>
      </p:sp>
      <p:pic>
        <p:nvPicPr>
          <p:cNvPr id="3" name="Image 0" descr="/home/claude/diagram_rag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1247120" cy="39227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→ Indexing → Storing → Querying → Evaluation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3 · Agentic RAG на практике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Алфред готовится к гала-приёму — четыре инструмента в одном агенте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FF9D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80" dirty="0"/>
          </a:p>
        </p:txBody>
      </p:sp>
      <p:sp>
        <p:nvSpPr>
          <p:cNvPr id="7" name="Text 5"/>
          <p:cNvSpPr/>
          <p:nvPr/>
        </p:nvSpPr>
        <p:spPr>
          <a:xfrm>
            <a:off x="1645920" y="16642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guest_info_retriever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1664208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BM25-поиск по базе гостей: имя, родство, био, email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017520"/>
            <a:ext cx="548640" cy="548640"/>
          </a:xfrm>
          <a:prstGeom prst="ellipse">
            <a:avLst/>
          </a:prstGeom>
          <a:solidFill>
            <a:srgbClr val="4C8BF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17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80" dirty="0"/>
          </a:p>
        </p:txBody>
      </p:sp>
      <p:sp>
        <p:nvSpPr>
          <p:cNvPr id="12" name="Text 10"/>
          <p:cNvSpPr/>
          <p:nvPr/>
        </p:nvSpPr>
        <p:spPr>
          <a:xfrm>
            <a:off x="1645920" y="28712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DuckDuckGoSearchTool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2871216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свежие новости и общая информация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6849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224528"/>
            <a:ext cx="548640" cy="5486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245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80" dirty="0"/>
          </a:p>
        </p:txBody>
      </p:sp>
      <p:sp>
        <p:nvSpPr>
          <p:cNvPr id="17" name="Text 15"/>
          <p:cNvSpPr/>
          <p:nvPr/>
        </p:nvSpPr>
        <p:spPr>
          <a:xfrm>
            <a:off x="1645920" y="40782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weather_info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4078224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погоды — точный момент для фейерверка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17550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431536"/>
            <a:ext cx="548640" cy="548640"/>
          </a:xfrm>
          <a:prstGeom prst="ellipse">
            <a:avLst/>
          </a:prstGeom>
          <a:solidFill>
            <a:srgbClr val="B18CF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4315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80" dirty="0"/>
          </a:p>
        </p:txBody>
      </p:sp>
      <p:sp>
        <p:nvSpPr>
          <p:cNvPr id="22" name="Text 20"/>
          <p:cNvSpPr/>
          <p:nvPr/>
        </p:nvSpPr>
        <p:spPr>
          <a:xfrm>
            <a:off x="1645920" y="52852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hub_stats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5285232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самая скачиваемая модель гостя-исследователя на HF Hub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4 · Бенчмарк GAIA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Реалистичные задачи: рассуждение + мультимодальность + инструменты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B1E28"/>
          </a:solidFill>
          <a:ln w="19050">
            <a:solidFill>
              <a:srgbClr val="3ECF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решают люди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B1E28"/>
          </a:solidFill>
          <a:ln w="19050">
            <a:solidFill>
              <a:srgbClr val="FF9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9659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9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61188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+ плагины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B1E28"/>
          </a:solidFill>
          <a:ln w="19050">
            <a:solidFill>
              <a:srgbClr val="4C8B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9659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4652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(OpenAI)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0" y="173736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1B1E28"/>
          </a:solidFill>
          <a:ln w="19050">
            <a:solidFill>
              <a:srgbClr val="B18C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9659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18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281160" y="306324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для сертификата курса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9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1: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шагов, минимум инструментов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9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2: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шагов, несколько инструментов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9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3: </a:t>
            </a:r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долгосрочное планирование, сложная интеграция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5760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Учебное подмножество курса: 20 вопросов уровня Level 1 через REST API (/questions, /submit)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4 · Свой агент для GAIA — код готов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8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0" y="1508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Gradio-интерфейс: вход через HF, кнопка запуска и отправки ответов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603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8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agent.py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0" y="25603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smolagents.CodeAgent + инструкция отвечать одним финальным значением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11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8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tools.py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0" y="36118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веб-поиск, чтение страниц, скачивание файла вопроса по task_id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5F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6634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C8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ИНСТРУКЦИЯ.md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57600" y="4663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пошагово: создать Space → загрузить файлы → вписать HF-токен → запустить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3E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5321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— за читателем: создать публичный Space, вписать HF-токен в секреты, нажать «Run &amp; Submit».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Бонусные модули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F4F5F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566160" cy="109728"/>
          </a:xfrm>
          <a:prstGeom prst="rect">
            <a:avLst/>
          </a:prstGeom>
          <a:solidFill>
            <a:srgbClr val="4C8B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1214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8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Function-Calling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LoRA-дообучение поверх instruct-модели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роли: tool call / tool result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Специальные токены [TOOL_CALLS] и т.п.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4343400" y="1371600"/>
            <a:ext cx="3566160" cy="109728"/>
          </a:xfrm>
          <a:prstGeom prst="rect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17720" y="21214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Eval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и spans (OpenTelemetry)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cost, ошибки, фидбэк, точность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Оффлайн- и онлайн-оценка агента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37160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F4F5F7"/>
          </a:solidFill>
          <a:ln/>
        </p:spPr>
      </p:sp>
      <p:sp>
        <p:nvSpPr>
          <p:cNvPr id="14" name="Shape 12"/>
          <p:cNvSpPr/>
          <p:nvPr/>
        </p:nvSpPr>
        <p:spPr>
          <a:xfrm>
            <a:off x="8138160" y="1371600"/>
            <a:ext cx="3566160" cy="109728"/>
          </a:xfrm>
          <a:prstGeom prst="rect">
            <a:avLst/>
          </a:prstGeom>
          <a:solidFill>
            <a:srgbClr val="B18CF5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691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412480" y="21214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18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Агенты в играх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2606040"/>
            <a:ext cx="3063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NPC: автономность, адаптивность, память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Латентность — главное ограничение реального времени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A5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боевой агент для Pokémon (poke-env)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4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5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16321F"/>
          </a:solidFill>
          <a:ln w="19050">
            <a:solidFill>
              <a:srgbClr val="3ECF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21488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Certificate of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Agents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Получен · тест 90% · 20.08.2026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3657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1–4 и все бонусные модули изучены и законспектированы.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120640" cy="3108960"/>
          </a:xfrm>
          <a:prstGeom prst="roundRect">
            <a:avLst>
              <a:gd name="adj" fmla="val 3529"/>
            </a:avLst>
          </a:prstGeom>
          <a:solidFill>
            <a:srgbClr val="2A1F16"/>
          </a:solidFill>
          <a:ln w="19050">
            <a:solidFill>
              <a:srgbClr val="FF9D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21488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Certificate of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9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≥30% на бенчмарке GAIA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36576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агента готов; публикация Space под своим аккаунтом — следующий шаг читателя.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 — Keep Learning, Stay Awesome 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2026-08-20T15:58:37Z</dcterms:created>
  <dcterms:modified xsi:type="dcterms:W3CDTF">2026-08-20T15:58:37Z</dcterms:modified>
</cp:coreProperties>
</file>